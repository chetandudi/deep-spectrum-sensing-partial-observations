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grandir" charset="1" panose="00000500000000000000"/>
      <p:regular r:id="rId33"/>
    </p:embeddedFont>
    <p:embeddedFont>
      <p:font typeface="Agrandir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gif" Type="http://schemas.openxmlformats.org/officeDocument/2006/relationships/image"/><Relationship Id="rId3" Target="../media/image25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24.gif" Type="http://schemas.openxmlformats.org/officeDocument/2006/relationships/image"/><Relationship Id="rId3" Target="../media/image25.gif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gif" Type="http://schemas.openxmlformats.org/officeDocument/2006/relationships/image"/><Relationship Id="rId5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38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38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38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gif" Type="http://schemas.openxmlformats.org/officeDocument/2006/relationships/image"/><Relationship Id="rId3" Target="../media/image42.gif" Type="http://schemas.openxmlformats.org/officeDocument/2006/relationships/image"/><Relationship Id="rId4" Target="../media/image43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gif" Type="http://schemas.openxmlformats.org/officeDocument/2006/relationships/image"/><Relationship Id="rId3" Target="../media/image44.gif" Type="http://schemas.openxmlformats.org/officeDocument/2006/relationships/image"/><Relationship Id="rId4" Target="../media/image4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gif" Type="http://schemas.openxmlformats.org/officeDocument/2006/relationships/image"/><Relationship Id="rId3" Target="../media/image38.gif" Type="http://schemas.openxmlformats.org/officeDocument/2006/relationships/image"/><Relationship Id="rId4" Target="../media/image47.gif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Relationship Id="rId4" Target="../media/image5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gif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rive.google.com/file/d/1ITHa5mEXnBOhbaIxwwXmWSHLIV11HDNv/view?usp=drive_link" TargetMode="External" Type="http://schemas.openxmlformats.org/officeDocument/2006/relationships/hyperlink"/><Relationship Id="rId11" Target="https://drive.google.com/file/d/1UoNh0XQouuUpJ1HSlTHFbPmDtdhodbHd/view?usp=drive_link" TargetMode="External" Type="http://schemas.openxmlformats.org/officeDocument/2006/relationships/hyperlink"/><Relationship Id="rId12" Target="https://github.com/Manish-Anwla/Generate-Datasets-using-GNU-Radio-and-SDR" TargetMode="External" Type="http://schemas.openxmlformats.org/officeDocument/2006/relationships/hyperlink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https://github.com/radioconda/radioconda-installer" TargetMode="External" Type="http://schemas.openxmlformats.org/officeDocument/2006/relationships/hyperlink"/><Relationship Id="rId7" Target="https://github.com/analogdevicesinc/plutosdr-m2k-drivers-win/releases" TargetMode="External" Type="http://schemas.openxmlformats.org/officeDocument/2006/relationships/hyperlink"/><Relationship Id="rId8" Target="https://drive.google.com/drive/folders/1e8texmB38lLSP05PVPen9b70UTNvPXuH?usp=drive_link" TargetMode="External" Type="http://schemas.openxmlformats.org/officeDocument/2006/relationships/hyperlink"/><Relationship Id="rId9" Target="https://drive.google.com/file/d/1Isaeh9cJh6UDmF4l40ifs4dvmJa1hD4S/view?usp=drive_link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gif" Type="http://schemas.openxmlformats.org/officeDocument/2006/relationships/image"/><Relationship Id="rId3" Target="../media/image1.gif" Type="http://schemas.openxmlformats.org/officeDocument/2006/relationships/image"/><Relationship Id="rId4" Target="../media/image44.gif" Type="http://schemas.openxmlformats.org/officeDocument/2006/relationships/image"/><Relationship Id="rId5" Target="../media/image4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52502" y="-1797179"/>
            <a:ext cx="15735219" cy="138813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03653" y="1238245"/>
            <a:ext cx="15955647" cy="154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Deep Learning–Based Spectrum Sensing under Partial Observations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5645120" y="2795333"/>
            <a:ext cx="5062995" cy="3695553"/>
          </a:xfrm>
          <a:custGeom>
            <a:avLst/>
            <a:gdLst/>
            <a:ahLst/>
            <a:cxnLst/>
            <a:rect r="r" b="b" t="t" l="l"/>
            <a:pathLst>
              <a:path h="3695553" w="5062995">
                <a:moveTo>
                  <a:pt x="0" y="0"/>
                </a:moveTo>
                <a:lnTo>
                  <a:pt x="5062995" y="0"/>
                </a:lnTo>
                <a:lnTo>
                  <a:pt x="5062995" y="3695554"/>
                </a:lnTo>
                <a:lnTo>
                  <a:pt x="0" y="36955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7478" y="6586708"/>
            <a:ext cx="16321822" cy="327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b="true" sz="300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Submitted by:</a:t>
            </a:r>
          </a:p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Chetan Prakash Dudi    Roll No: 2022CSB1074</a:t>
            </a:r>
          </a:p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Manish Anwla                 Roll No: 2022CSB1090</a:t>
            </a:r>
          </a:p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b="true" sz="300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Under the guidance of:</a:t>
            </a:r>
          </a:p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 Dr. Sudeepta Mishra &amp; Anjani Gupta</a:t>
            </a:r>
          </a:p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Department of Computer Science and Engineering Indian Institute of Technology Ropar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18985"/>
            <a:ext cx="18288000" cy="3124200"/>
            <a:chOff x="0" y="0"/>
            <a:chExt cx="24384000" cy="41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785" cy="1482925"/>
            </a:xfrm>
            <a:custGeom>
              <a:avLst/>
              <a:gdLst/>
              <a:ahLst/>
              <a:cxnLst/>
              <a:rect r="r" b="b" t="t" l="l"/>
              <a:pathLst>
                <a:path h="1482925" w="1439785">
                  <a:moveTo>
                    <a:pt x="0" y="0"/>
                  </a:moveTo>
                  <a:lnTo>
                    <a:pt x="1439785" y="0"/>
                  </a:lnTo>
                  <a:lnTo>
                    <a:pt x="1439785" y="1482925"/>
                  </a:lnTo>
                  <a:lnTo>
                    <a:pt x="0" y="1482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665292" y="-142875"/>
              <a:ext cx="22718708" cy="4308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Motivation: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Wireless spectrum is crowded, like a busy bazaar where everyone wants a stall.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Primary Users (licensed) must be protected from interference.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Secondary Users need reliable spectrum sensing, especially under low SNR and partial visibility.</a:t>
              </a:r>
            </a:p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449909" y="474658"/>
              <a:ext cx="539966" cy="447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0"/>
                </a:lnSpc>
              </a:pPr>
              <a:r>
                <a:rPr lang="en-US" b="true" sz="1792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7125177"/>
            <a:ext cx="18288000" cy="2590800"/>
            <a:chOff x="0" y="0"/>
            <a:chExt cx="24384000" cy="34544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761946" y="-142875"/>
              <a:ext cx="22622054" cy="359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Objective: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Build deep learning models (LSTM, Bi-LSTM, GRU, RNN, Enhanced LSTM) to detect PU activity.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Compare with state-of-the-art Collaborative CNN from IEEE TCCN 2024</a:t>
              </a:r>
            </a:p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58726" cy="1502433"/>
            </a:xfrm>
            <a:custGeom>
              <a:avLst/>
              <a:gdLst/>
              <a:ahLst/>
              <a:cxnLst/>
              <a:rect r="r" b="b" t="t" l="l"/>
              <a:pathLst>
                <a:path h="1502433" w="1458726">
                  <a:moveTo>
                    <a:pt x="0" y="0"/>
                  </a:moveTo>
                  <a:lnTo>
                    <a:pt x="1458726" y="0"/>
                  </a:lnTo>
                  <a:lnTo>
                    <a:pt x="1458726" y="1502433"/>
                  </a:lnTo>
                  <a:lnTo>
                    <a:pt x="0" y="1502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455828" y="482030"/>
              <a:ext cx="547070" cy="45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3"/>
                </a:lnSpc>
              </a:pPr>
              <a:r>
                <a:rPr lang="en-US" b="true" sz="1816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5690" y="313200"/>
            <a:ext cx="9287744" cy="2523793"/>
            <a:chOff x="0" y="0"/>
            <a:chExt cx="4439300" cy="12111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39300" cy="1211157"/>
            </a:xfrm>
            <a:custGeom>
              <a:avLst/>
              <a:gdLst/>
              <a:ahLst/>
              <a:cxnLst/>
              <a:rect r="r" b="b" t="t" l="l"/>
              <a:pathLst>
                <a:path h="1211157" w="4439300">
                  <a:moveTo>
                    <a:pt x="4314840" y="1211157"/>
                  </a:moveTo>
                  <a:lnTo>
                    <a:pt x="124460" y="1211157"/>
                  </a:lnTo>
                  <a:cubicBezTo>
                    <a:pt x="55880" y="1211157"/>
                    <a:pt x="0" y="1155277"/>
                    <a:pt x="0" y="10866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14840" y="0"/>
                  </a:lnTo>
                  <a:cubicBezTo>
                    <a:pt x="4383420" y="0"/>
                    <a:pt x="4439300" y="55880"/>
                    <a:pt x="4439300" y="124460"/>
                  </a:cubicBezTo>
                  <a:lnTo>
                    <a:pt x="4439300" y="1086697"/>
                  </a:lnTo>
                  <a:cubicBezTo>
                    <a:pt x="4439300" y="1155277"/>
                    <a:pt x="4383420" y="1211157"/>
                    <a:pt x="4314840" y="1211157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553555"/>
            <a:ext cx="8607943" cy="197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8"/>
              </a:lnSpc>
              <a:spcBef>
                <a:spcPct val="0"/>
              </a:spcBef>
            </a:pPr>
            <a:r>
              <a:rPr lang="en-US" sz="6006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Project Overview (Before Mid-Semester)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223" y="2429955"/>
            <a:ext cx="17697555" cy="7462888"/>
            <a:chOff x="0" y="0"/>
            <a:chExt cx="8458970" cy="3581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58970" cy="3581407"/>
            </a:xfrm>
            <a:custGeom>
              <a:avLst/>
              <a:gdLst/>
              <a:ahLst/>
              <a:cxnLst/>
              <a:rect r="r" b="b" t="t" l="l"/>
              <a:pathLst>
                <a:path h="3581407" w="8458970">
                  <a:moveTo>
                    <a:pt x="8334510" y="3581407"/>
                  </a:moveTo>
                  <a:lnTo>
                    <a:pt x="124460" y="3581407"/>
                  </a:lnTo>
                  <a:cubicBezTo>
                    <a:pt x="55880" y="3581407"/>
                    <a:pt x="0" y="3525527"/>
                    <a:pt x="0" y="345694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334510" y="0"/>
                  </a:lnTo>
                  <a:cubicBezTo>
                    <a:pt x="8403089" y="0"/>
                    <a:pt x="8458970" y="55880"/>
                    <a:pt x="8458970" y="124460"/>
                  </a:cubicBezTo>
                  <a:lnTo>
                    <a:pt x="8458970" y="3456947"/>
                  </a:lnTo>
                  <a:cubicBezTo>
                    <a:pt x="8458970" y="3525527"/>
                    <a:pt x="8403089" y="3581407"/>
                    <a:pt x="8334510" y="3581407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34691" y="2884859"/>
            <a:ext cx="347553" cy="371466"/>
          </a:xfrm>
          <a:custGeom>
            <a:avLst/>
            <a:gdLst/>
            <a:ahLst/>
            <a:cxnLst/>
            <a:rect r="r" b="b" t="t" l="l"/>
            <a:pathLst>
              <a:path h="371466" w="347553">
                <a:moveTo>
                  <a:pt x="0" y="0"/>
                </a:moveTo>
                <a:lnTo>
                  <a:pt x="347553" y="0"/>
                </a:lnTo>
                <a:lnTo>
                  <a:pt x="347553" y="371466"/>
                </a:lnTo>
                <a:lnTo>
                  <a:pt x="0" y="371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1894" y="2761034"/>
            <a:ext cx="16382083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Efficient spectrum sensing fails when</a:t>
            </a:r>
          </a:p>
          <a:p>
            <a:pPr algn="l" marL="863601" indent="-287867" lvl="2">
              <a:lnSpc>
                <a:spcPts val="3000"/>
              </a:lnSpc>
              <a:buFont typeface="Arial"/>
              <a:buChar char="⚬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SNR is very low</a:t>
            </a:r>
          </a:p>
          <a:p>
            <a:pPr algn="l" marL="863601" indent="-287867" lvl="2">
              <a:lnSpc>
                <a:spcPts val="3000"/>
              </a:lnSpc>
              <a:buFont typeface="Arial"/>
              <a:buChar char="⚬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Each SU sees only a slice of the spectrum (“partial observations”).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Conventional methods (Energy Detection, Cyclostationary) crumble under noise uncertainty.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81894" y="215323"/>
            <a:ext cx="12383777" cy="197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8"/>
              </a:lnSpc>
              <a:spcBef>
                <a:spcPct val="0"/>
              </a:spcBef>
            </a:pPr>
            <a:r>
              <a:rPr lang="en-US" sz="6006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Problem Statement &amp; Research Gap (Pre-Mid-Sem Work)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1894" y="5205779"/>
            <a:ext cx="16382083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Research Gaps Identified: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Partial Observations Issue: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Existing DL models assume full-spectrum input → unrealistic.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Temporal Dependencies Ignored: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PU activity has patterns over time; CNNs can’t capture these well.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Model Complexity vs Robustness: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Collaborative CNNs reduce parameters but still need coordination.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4691" y="5329604"/>
            <a:ext cx="347553" cy="371466"/>
          </a:xfrm>
          <a:custGeom>
            <a:avLst/>
            <a:gdLst/>
            <a:ahLst/>
            <a:cxnLst/>
            <a:rect r="r" b="b" t="t" l="l"/>
            <a:pathLst>
              <a:path h="371466" w="347553">
                <a:moveTo>
                  <a:pt x="0" y="0"/>
                </a:moveTo>
                <a:lnTo>
                  <a:pt x="347553" y="0"/>
                </a:lnTo>
                <a:lnTo>
                  <a:pt x="347553" y="371466"/>
                </a:lnTo>
                <a:lnTo>
                  <a:pt x="0" y="371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1894" y="8412523"/>
            <a:ext cx="162824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Direction: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Explore LSTM-based models to capture long-term temporal behaviour.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34691" y="8536348"/>
            <a:ext cx="347553" cy="371466"/>
          </a:xfrm>
          <a:custGeom>
            <a:avLst/>
            <a:gdLst/>
            <a:ahLst/>
            <a:cxnLst/>
            <a:rect r="r" b="b" t="t" l="l"/>
            <a:pathLst>
              <a:path h="371466" w="347553">
                <a:moveTo>
                  <a:pt x="0" y="0"/>
                </a:moveTo>
                <a:lnTo>
                  <a:pt x="347553" y="0"/>
                </a:lnTo>
                <a:lnTo>
                  <a:pt x="347553" y="371467"/>
                </a:lnTo>
                <a:lnTo>
                  <a:pt x="0" y="371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732" y="3164920"/>
            <a:ext cx="1509937" cy="1555178"/>
            <a:chOff x="0" y="0"/>
            <a:chExt cx="2013249" cy="2073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3249" cy="2073571"/>
            </a:xfrm>
            <a:custGeom>
              <a:avLst/>
              <a:gdLst/>
              <a:ahLst/>
              <a:cxnLst/>
              <a:rect r="r" b="b" t="t" l="l"/>
              <a:pathLst>
                <a:path h="2073571" w="2013249">
                  <a:moveTo>
                    <a:pt x="0" y="0"/>
                  </a:moveTo>
                  <a:lnTo>
                    <a:pt x="2013249" y="0"/>
                  </a:lnTo>
                  <a:lnTo>
                    <a:pt x="2013249" y="2073571"/>
                  </a:lnTo>
                  <a:lnTo>
                    <a:pt x="0" y="2073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240" y="669120"/>
              <a:ext cx="904769" cy="735331"/>
            </a:xfrm>
            <a:custGeom>
              <a:avLst/>
              <a:gdLst/>
              <a:ahLst/>
              <a:cxnLst/>
              <a:rect r="r" b="b" t="t" l="l"/>
              <a:pathLst>
                <a:path h="735331" w="904769">
                  <a:moveTo>
                    <a:pt x="0" y="0"/>
                  </a:moveTo>
                  <a:lnTo>
                    <a:pt x="904769" y="0"/>
                  </a:lnTo>
                  <a:lnTo>
                    <a:pt x="904769" y="735331"/>
                  </a:lnTo>
                  <a:lnTo>
                    <a:pt x="0" y="7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22605" y="2520041"/>
            <a:ext cx="5973696" cy="3561219"/>
            <a:chOff x="0" y="0"/>
            <a:chExt cx="7964928" cy="47482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23825"/>
              <a:ext cx="7964928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Data Pipeline Built: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29258"/>
              <a:ext cx="7964928" cy="4119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Synthetic PSD dataset across SNR = −16, −10, −4 dB.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PSD shape: 64 frequency bins × 20 bands per sample.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Labels: Occupied / Idle for each of 20 bands.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8151" y="6880695"/>
            <a:ext cx="1924218" cy="1798269"/>
            <a:chOff x="0" y="0"/>
            <a:chExt cx="2565623" cy="23976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5623" cy="2397692"/>
            </a:xfrm>
            <a:custGeom>
              <a:avLst/>
              <a:gdLst/>
              <a:ahLst/>
              <a:cxnLst/>
              <a:rect r="r" b="b" t="t" l="l"/>
              <a:pathLst>
                <a:path h="2397692" w="2565623">
                  <a:moveTo>
                    <a:pt x="0" y="0"/>
                  </a:moveTo>
                  <a:lnTo>
                    <a:pt x="2565623" y="0"/>
                  </a:lnTo>
                  <a:lnTo>
                    <a:pt x="2565623" y="2397692"/>
                  </a:lnTo>
                  <a:lnTo>
                    <a:pt x="0" y="239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41914" y="757948"/>
              <a:ext cx="881795" cy="881795"/>
            </a:xfrm>
            <a:custGeom>
              <a:avLst/>
              <a:gdLst/>
              <a:ahLst/>
              <a:cxnLst/>
              <a:rect r="r" b="b" t="t" l="l"/>
              <a:pathLst>
                <a:path h="881795" w="881795">
                  <a:moveTo>
                    <a:pt x="0" y="0"/>
                  </a:moveTo>
                  <a:lnTo>
                    <a:pt x="881795" y="0"/>
                  </a:lnTo>
                  <a:lnTo>
                    <a:pt x="881795" y="881796"/>
                  </a:lnTo>
                  <a:lnTo>
                    <a:pt x="0" y="88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64411" y="2710304"/>
            <a:ext cx="1672673" cy="1563189"/>
            <a:chOff x="0" y="0"/>
            <a:chExt cx="2230231" cy="20842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0231" cy="2084252"/>
            </a:xfrm>
            <a:custGeom>
              <a:avLst/>
              <a:gdLst/>
              <a:ahLst/>
              <a:cxnLst/>
              <a:rect r="r" b="b" t="t" l="l"/>
              <a:pathLst>
                <a:path h="2084252" w="2230231">
                  <a:moveTo>
                    <a:pt x="0" y="0"/>
                  </a:moveTo>
                  <a:lnTo>
                    <a:pt x="2230231" y="0"/>
                  </a:lnTo>
                  <a:lnTo>
                    <a:pt x="2230231" y="2084252"/>
                  </a:lnTo>
                  <a:lnTo>
                    <a:pt x="0" y="2084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16246" y="661621"/>
              <a:ext cx="597739" cy="761010"/>
            </a:xfrm>
            <a:custGeom>
              <a:avLst/>
              <a:gdLst/>
              <a:ahLst/>
              <a:cxnLst/>
              <a:rect r="r" b="b" t="t" l="l"/>
              <a:pathLst>
                <a:path h="761010" w="597739">
                  <a:moveTo>
                    <a:pt x="0" y="0"/>
                  </a:moveTo>
                  <a:lnTo>
                    <a:pt x="597739" y="0"/>
                  </a:lnTo>
                  <a:lnTo>
                    <a:pt x="597739" y="761010"/>
                  </a:lnTo>
                  <a:lnTo>
                    <a:pt x="0" y="76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64411" y="6881075"/>
            <a:ext cx="1779439" cy="1832755"/>
            <a:chOff x="0" y="0"/>
            <a:chExt cx="2372585" cy="24436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2585" cy="2443674"/>
            </a:xfrm>
            <a:custGeom>
              <a:avLst/>
              <a:gdLst/>
              <a:ahLst/>
              <a:cxnLst/>
              <a:rect r="r" b="b" t="t" l="l"/>
              <a:pathLst>
                <a:path h="2443674" w="2372585">
                  <a:moveTo>
                    <a:pt x="0" y="0"/>
                  </a:moveTo>
                  <a:lnTo>
                    <a:pt x="2372585" y="0"/>
                  </a:lnTo>
                  <a:lnTo>
                    <a:pt x="2372585" y="2443674"/>
                  </a:lnTo>
                  <a:lnTo>
                    <a:pt x="0" y="2443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13783" y="785410"/>
              <a:ext cx="945018" cy="872853"/>
            </a:xfrm>
            <a:custGeom>
              <a:avLst/>
              <a:gdLst/>
              <a:ahLst/>
              <a:cxnLst/>
              <a:rect r="r" b="b" t="t" l="l"/>
              <a:pathLst>
                <a:path h="872853" w="945018">
                  <a:moveTo>
                    <a:pt x="0" y="0"/>
                  </a:moveTo>
                  <a:lnTo>
                    <a:pt x="945019" y="0"/>
                  </a:lnTo>
                  <a:lnTo>
                    <a:pt x="945019" y="872854"/>
                  </a:lnTo>
                  <a:lnTo>
                    <a:pt x="0" y="87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40258" y="309562"/>
            <a:ext cx="14712086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Pre-Mid-Semester Work Summary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54462" y="2520041"/>
            <a:ext cx="6457016" cy="2815375"/>
            <a:chOff x="0" y="0"/>
            <a:chExt cx="8609354" cy="37538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23825"/>
              <a:ext cx="8609354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Preprocessing Completed: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03200"/>
              <a:ext cx="8609354" cy="29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Standardization of PSD values.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Sequence conversion: (20 time steps × 64 features).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Train/test splitting &amp; DataLoader setup.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43850" y="6910012"/>
            <a:ext cx="6015450" cy="1939075"/>
            <a:chOff x="0" y="0"/>
            <a:chExt cx="8020600" cy="25854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8020600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Baseline Evaluation Done: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03200"/>
              <a:ext cx="8020600" cy="1782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Training convergence plots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ROC curves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PD vs SNR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12368" y="6881075"/>
            <a:ext cx="5969981" cy="2377225"/>
            <a:chOff x="0" y="0"/>
            <a:chExt cx="7959975" cy="31696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123825"/>
              <a:ext cx="7959975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Model Implementations (PyTorch):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03200"/>
              <a:ext cx="7959975" cy="23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LSTM, Bi-LSTM, RNN, GRU, Enhanced Gated LSTM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Loss: Binary Cross-Entropy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Optimizer: Adam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73732" y="260142"/>
            <a:ext cx="17119552" cy="1537115"/>
            <a:chOff x="0" y="0"/>
            <a:chExt cx="8458970" cy="762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58970" cy="762560"/>
            </a:xfrm>
            <a:custGeom>
              <a:avLst/>
              <a:gdLst/>
              <a:ahLst/>
              <a:cxnLst/>
              <a:rect r="r" b="b" t="t" l="l"/>
              <a:pathLst>
                <a:path h="762560" w="8458970">
                  <a:moveTo>
                    <a:pt x="8334510" y="762560"/>
                  </a:moveTo>
                  <a:lnTo>
                    <a:pt x="124460" y="762560"/>
                  </a:lnTo>
                  <a:cubicBezTo>
                    <a:pt x="55880" y="762560"/>
                    <a:pt x="0" y="706680"/>
                    <a:pt x="0" y="6381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334510" y="0"/>
                  </a:lnTo>
                  <a:cubicBezTo>
                    <a:pt x="8403089" y="0"/>
                    <a:pt x="8458970" y="55880"/>
                    <a:pt x="8458970" y="124460"/>
                  </a:cubicBezTo>
                  <a:lnTo>
                    <a:pt x="8458970" y="638100"/>
                  </a:lnTo>
                  <a:cubicBezTo>
                    <a:pt x="8458970" y="706680"/>
                    <a:pt x="8403089" y="762560"/>
                    <a:pt x="8334510" y="762560"/>
                  </a:cubicBezTo>
                  <a:close/>
                </a:path>
              </a:pathLst>
            </a:custGeom>
            <a:solidFill>
              <a:srgbClr val="F6E4E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40258" y="309562"/>
            <a:ext cx="16313955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Pre-Mid-Semester Work Summary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7698" y="2171136"/>
            <a:ext cx="9146460" cy="7087164"/>
            <a:chOff x="0" y="0"/>
            <a:chExt cx="4603538" cy="3581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538" cy="3581407"/>
            </a:xfrm>
            <a:custGeom>
              <a:avLst/>
              <a:gdLst/>
              <a:ahLst/>
              <a:cxnLst/>
              <a:rect r="r" b="b" t="t" l="l"/>
              <a:pathLst>
                <a:path h="3581407" w="4603538">
                  <a:moveTo>
                    <a:pt x="4479077" y="3581407"/>
                  </a:moveTo>
                  <a:lnTo>
                    <a:pt x="124460" y="3581407"/>
                  </a:lnTo>
                  <a:cubicBezTo>
                    <a:pt x="55880" y="3581407"/>
                    <a:pt x="0" y="3525527"/>
                    <a:pt x="0" y="345694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79078" y="0"/>
                  </a:lnTo>
                  <a:cubicBezTo>
                    <a:pt x="4547658" y="0"/>
                    <a:pt x="4603538" y="55880"/>
                    <a:pt x="4603538" y="124460"/>
                  </a:cubicBezTo>
                  <a:lnTo>
                    <a:pt x="4603538" y="3456947"/>
                  </a:lnTo>
                  <a:cubicBezTo>
                    <a:pt x="4603538" y="3525527"/>
                    <a:pt x="4547658" y="3581407"/>
                    <a:pt x="4479078" y="3581407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73285" y="2429955"/>
            <a:ext cx="347553" cy="371466"/>
          </a:xfrm>
          <a:custGeom>
            <a:avLst/>
            <a:gdLst/>
            <a:ahLst/>
            <a:cxnLst/>
            <a:rect r="r" b="b" t="t" l="l"/>
            <a:pathLst>
              <a:path h="371466" w="347553">
                <a:moveTo>
                  <a:pt x="0" y="0"/>
                </a:moveTo>
                <a:lnTo>
                  <a:pt x="347553" y="0"/>
                </a:lnTo>
                <a:lnTo>
                  <a:pt x="347553" y="371466"/>
                </a:lnTo>
                <a:lnTo>
                  <a:pt x="0" y="371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64941" y="2287080"/>
            <a:ext cx="8079740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An I/Q signal is a way to represent a complex signal using two real signals: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 → In-phase component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Q → Quadrature component (90° phase shifted version of I)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6313" y="415348"/>
            <a:ext cx="8607943" cy="197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8"/>
              </a:lnSpc>
              <a:spcBef>
                <a:spcPct val="0"/>
              </a:spcBef>
            </a:pPr>
            <a:r>
              <a:rPr lang="en-US" sz="6006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Post Mid-Semester Progress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922" y="2987644"/>
            <a:ext cx="8843713" cy="1111926"/>
            <a:chOff x="0" y="0"/>
            <a:chExt cx="11791618" cy="14825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9438" cy="1482568"/>
            </a:xfrm>
            <a:custGeom>
              <a:avLst/>
              <a:gdLst/>
              <a:ahLst/>
              <a:cxnLst/>
              <a:rect r="r" b="b" t="t" l="l"/>
              <a:pathLst>
                <a:path h="1482568" w="1439438">
                  <a:moveTo>
                    <a:pt x="0" y="0"/>
                  </a:moveTo>
                  <a:lnTo>
                    <a:pt x="1439438" y="0"/>
                  </a:lnTo>
                  <a:lnTo>
                    <a:pt x="1439438" y="1482568"/>
                  </a:lnTo>
                  <a:lnTo>
                    <a:pt x="0" y="1482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092526" y="52284"/>
              <a:ext cx="9699091" cy="1254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0"/>
                </a:lnSpc>
              </a:pPr>
              <a:r>
                <a:rPr lang="en-US" b="true" sz="2607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Purpose:</a:t>
              </a:r>
              <a:r>
                <a:rPr lang="en-US" sz="2607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Generate wideband wireless I/Q datasets using GNU Radio and SDR.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9801" y="474523"/>
              <a:ext cx="539836" cy="447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b="true" sz="1792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859" y="4328068"/>
            <a:ext cx="8843713" cy="1304758"/>
            <a:chOff x="0" y="0"/>
            <a:chExt cx="11791618" cy="173967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092526" y="-123825"/>
              <a:ext cx="9699091" cy="1863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0"/>
                </a:lnSpc>
              </a:pPr>
              <a:r>
                <a:rPr lang="en-US" b="true" sz="2607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Goal: </a:t>
              </a:r>
              <a:r>
                <a:rPr lang="en-US" sz="2607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Capture real-world signals under varying channel conditions for IoT and modulation analysis.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28555"/>
              <a:ext cx="1439438" cy="1482568"/>
            </a:xfrm>
            <a:custGeom>
              <a:avLst/>
              <a:gdLst/>
              <a:ahLst/>
              <a:cxnLst/>
              <a:rect r="r" b="b" t="t" l="l"/>
              <a:pathLst>
                <a:path h="1482568" w="1439438">
                  <a:moveTo>
                    <a:pt x="0" y="0"/>
                  </a:moveTo>
                  <a:lnTo>
                    <a:pt x="1439438" y="0"/>
                  </a:lnTo>
                  <a:lnTo>
                    <a:pt x="1439438" y="1482567"/>
                  </a:lnTo>
                  <a:lnTo>
                    <a:pt x="0" y="1482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449801" y="603078"/>
              <a:ext cx="539836" cy="447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b="true" sz="1792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7859" y="5979842"/>
            <a:ext cx="8843713" cy="1111926"/>
            <a:chOff x="0" y="0"/>
            <a:chExt cx="11791618" cy="148256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2092526" y="52284"/>
              <a:ext cx="9699091" cy="1254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0"/>
                </a:lnSpc>
              </a:pPr>
              <a:r>
                <a:rPr lang="en-US" b="true" sz="2607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Devices:</a:t>
              </a:r>
              <a:r>
                <a:rPr lang="en-US" sz="2607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ADALM-PLUTO SDR, GNU Radio, Python (PyTorch) integration.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9438" cy="1482568"/>
            </a:xfrm>
            <a:custGeom>
              <a:avLst/>
              <a:gdLst/>
              <a:ahLst/>
              <a:cxnLst/>
              <a:rect r="r" b="b" t="t" l="l"/>
              <a:pathLst>
                <a:path h="1482568" w="1439438">
                  <a:moveTo>
                    <a:pt x="0" y="0"/>
                  </a:moveTo>
                  <a:lnTo>
                    <a:pt x="1439438" y="0"/>
                  </a:lnTo>
                  <a:lnTo>
                    <a:pt x="1439438" y="1482568"/>
                  </a:lnTo>
                  <a:lnTo>
                    <a:pt x="0" y="1482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49801" y="474523"/>
              <a:ext cx="539836" cy="447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b="true" sz="1792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0922" y="7329481"/>
            <a:ext cx="8846776" cy="1112311"/>
            <a:chOff x="0" y="0"/>
            <a:chExt cx="11795701" cy="148308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2093251" y="52541"/>
              <a:ext cx="9702450" cy="1254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50"/>
                </a:lnSpc>
              </a:pPr>
              <a:r>
                <a:rPr lang="en-US" b="true" sz="2607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Output:</a:t>
              </a:r>
              <a:r>
                <a:rPr lang="en-US" sz="2607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Dataset of PSD, SNR, and PU activity logs for each modulation type.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9937" cy="1483081"/>
            </a:xfrm>
            <a:custGeom>
              <a:avLst/>
              <a:gdLst/>
              <a:ahLst/>
              <a:cxnLst/>
              <a:rect r="r" b="b" t="t" l="l"/>
              <a:pathLst>
                <a:path h="1483081" w="1439937">
                  <a:moveTo>
                    <a:pt x="0" y="0"/>
                  </a:moveTo>
                  <a:lnTo>
                    <a:pt x="1439937" y="0"/>
                  </a:lnTo>
                  <a:lnTo>
                    <a:pt x="1439937" y="1483081"/>
                  </a:lnTo>
                  <a:lnTo>
                    <a:pt x="0" y="1483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449957" y="474717"/>
              <a:ext cx="540023" cy="447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0"/>
                </a:lnSpc>
              </a:pPr>
              <a:r>
                <a:rPr lang="en-US" b="true" sz="1793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64941" y="5264559"/>
            <a:ext cx="8079740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Mathematically, a complex baseband signal is written as: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                        </a:t>
            </a: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x(t)=I(t)+jQ(t)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Where: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</a:t>
            </a: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I(t) = amplitude of the cosine (real) part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</a:t>
            </a: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Q(t) = amplitude of the sine (imaginary) part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</a:t>
            </a: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j=sqrt(−1)​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73285" y="5407434"/>
            <a:ext cx="347553" cy="371466"/>
          </a:xfrm>
          <a:custGeom>
            <a:avLst/>
            <a:gdLst/>
            <a:ahLst/>
            <a:cxnLst/>
            <a:rect r="r" b="b" t="t" l="l"/>
            <a:pathLst>
              <a:path h="371466" w="347553">
                <a:moveTo>
                  <a:pt x="0" y="0"/>
                </a:moveTo>
                <a:lnTo>
                  <a:pt x="347553" y="0"/>
                </a:lnTo>
                <a:lnTo>
                  <a:pt x="347553" y="371467"/>
                </a:lnTo>
                <a:lnTo>
                  <a:pt x="0" y="371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28700" y="1616857"/>
            <a:ext cx="7729865" cy="7053286"/>
            <a:chOff x="0" y="0"/>
            <a:chExt cx="10306486" cy="940438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0306486" cy="300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Software and Hardware Stack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72610"/>
              <a:ext cx="10306486" cy="6131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Software: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GNU Radio Companion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Python (NumPy, Torch, CSV, FFT libraries)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IIO Drivers for SDR communication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Hardware: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ADALM-PLUTO SDR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Frequency range: 325 MHz – 3.8 GHz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Sample rate: Up to 1.024 MSPS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027627" y="1209675"/>
            <a:ext cx="10260373" cy="8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NumPy: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Used for fast mathematical operations like FFT and signal processing on complex I/Q data.</a:t>
            </a:r>
          </a:p>
          <a:p>
            <a:pPr algn="ctr">
              <a:lnSpc>
                <a:spcPts val="3359"/>
              </a:lnSpc>
            </a:pP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Torch (PyTorch):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Used to save and structure datasets (.pth files) for later ML-based signal analysis.</a:t>
            </a:r>
          </a:p>
          <a:p>
            <a:pPr algn="ctr">
              <a:lnSpc>
                <a:spcPts val="3359"/>
              </a:lnSpc>
            </a:pP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CSV: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Used to log real-time PSD, SNR, and PU activity values in a readable file format.</a:t>
            </a:r>
          </a:p>
          <a:p>
            <a:pPr algn="ctr">
              <a:lnSpc>
                <a:spcPts val="3359"/>
              </a:lnSpc>
            </a:pP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FFT Library: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Converts time-domain signals into frequency-domain (Power Spectral Density) for analysis.</a:t>
            </a:r>
          </a:p>
          <a:p>
            <a:pPr algn="ctr">
              <a:lnSpc>
                <a:spcPts val="3359"/>
              </a:lnSpc>
            </a:pP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Frequency Range (325 MHz – 3.8 GHz):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Defines the tunable radio spectrum that the PlutoSDR can operate in.</a:t>
            </a:r>
          </a:p>
          <a:p>
            <a:pPr algn="ctr">
              <a:lnSpc>
                <a:spcPts val="3359"/>
              </a:lnSpc>
            </a:pP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Rate (up to 61.44 MSPS):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Determines how many signal samples are captured per second, affecting bandwidth and accuracy.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475674" y="1688294"/>
            <a:ext cx="9522432" cy="6910411"/>
            <a:chOff x="0" y="0"/>
            <a:chExt cx="12696576" cy="921388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269657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Overall System Flow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62910"/>
              <a:ext cx="12696576" cy="7350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Primary User (PU):</a:t>
              </a: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Transmits modulated signal using GNU Radio and Adam Pluto SDR.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Sec</a:t>
              </a: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ondary User (SU):</a:t>
              </a: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Receives signal and logs spectral data.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Data Flow: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G</a:t>
              </a: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enerate binary data by Matlab.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Modulation applied (BPSK/QPSK/FSK/16QAM).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Signal transmitted using PlutoSDR Sink.</a:t>
              </a:r>
            </a:p>
            <a:p>
              <a:pPr algn="l" marL="561342" indent="-280671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SU receives via PlutoSDR Source and runs Python logger.</a:t>
              </a:r>
            </a:p>
            <a:p>
              <a:pPr algn="l">
                <a:lnSpc>
                  <a:spcPts val="3640"/>
                </a:lnSpc>
              </a:pP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1517050" y="1552993"/>
            <a:ext cx="0" cy="9027303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701231" y="1451310"/>
            <a:ext cx="3872574" cy="1419341"/>
            <a:chOff x="0" y="0"/>
            <a:chExt cx="5163432" cy="189245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38125"/>
              <a:ext cx="5163432" cy="1249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PU block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63766"/>
              <a:ext cx="5163432" cy="52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267422" y="1349627"/>
            <a:ext cx="508305" cy="406731"/>
          </a:xfrm>
          <a:custGeom>
            <a:avLst/>
            <a:gdLst/>
            <a:ahLst/>
            <a:cxnLst/>
            <a:rect r="r" b="b" t="t" l="l"/>
            <a:pathLst>
              <a:path h="406731" w="508305">
                <a:moveTo>
                  <a:pt x="0" y="0"/>
                </a:moveTo>
                <a:lnTo>
                  <a:pt x="508305" y="0"/>
                </a:lnTo>
                <a:lnTo>
                  <a:pt x="508305" y="406732"/>
                </a:lnTo>
                <a:lnTo>
                  <a:pt x="0" y="40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701231" y="3579362"/>
            <a:ext cx="3872574" cy="1419341"/>
            <a:chOff x="0" y="0"/>
            <a:chExt cx="5163432" cy="189245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38125"/>
              <a:ext cx="5163432" cy="1249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Air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3766"/>
              <a:ext cx="5163432" cy="52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01231" y="5647874"/>
            <a:ext cx="3872574" cy="1419341"/>
            <a:chOff x="0" y="0"/>
            <a:chExt cx="5163432" cy="189245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38125"/>
              <a:ext cx="5163432" cy="1249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SU Block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363766"/>
              <a:ext cx="5163432" cy="52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01231" y="7835467"/>
            <a:ext cx="3872574" cy="1419341"/>
            <a:chOff x="0" y="0"/>
            <a:chExt cx="5163432" cy="189245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38125"/>
              <a:ext cx="5163432" cy="1249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Logger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63766"/>
              <a:ext cx="5163432" cy="52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267422" y="3579362"/>
            <a:ext cx="508305" cy="406731"/>
          </a:xfrm>
          <a:custGeom>
            <a:avLst/>
            <a:gdLst/>
            <a:ahLst/>
            <a:cxnLst/>
            <a:rect r="r" b="b" t="t" l="l"/>
            <a:pathLst>
              <a:path h="406731" w="508305">
                <a:moveTo>
                  <a:pt x="0" y="0"/>
                </a:moveTo>
                <a:lnTo>
                  <a:pt x="508305" y="0"/>
                </a:lnTo>
                <a:lnTo>
                  <a:pt x="508305" y="406732"/>
                </a:lnTo>
                <a:lnTo>
                  <a:pt x="0" y="406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67422" y="5707414"/>
            <a:ext cx="508305" cy="406731"/>
          </a:xfrm>
          <a:custGeom>
            <a:avLst/>
            <a:gdLst/>
            <a:ahLst/>
            <a:cxnLst/>
            <a:rect r="r" b="b" t="t" l="l"/>
            <a:pathLst>
              <a:path h="406731" w="508305">
                <a:moveTo>
                  <a:pt x="0" y="0"/>
                </a:moveTo>
                <a:lnTo>
                  <a:pt x="508305" y="0"/>
                </a:lnTo>
                <a:lnTo>
                  <a:pt x="508305" y="406732"/>
                </a:lnTo>
                <a:lnTo>
                  <a:pt x="0" y="406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67422" y="7937149"/>
            <a:ext cx="508305" cy="406731"/>
          </a:xfrm>
          <a:custGeom>
            <a:avLst/>
            <a:gdLst/>
            <a:ahLst/>
            <a:cxnLst/>
            <a:rect r="r" b="b" t="t" l="l"/>
            <a:pathLst>
              <a:path h="406731" w="508305">
                <a:moveTo>
                  <a:pt x="0" y="0"/>
                </a:moveTo>
                <a:lnTo>
                  <a:pt x="508305" y="0"/>
                </a:lnTo>
                <a:lnTo>
                  <a:pt x="508305" y="406732"/>
                </a:lnTo>
                <a:lnTo>
                  <a:pt x="0" y="406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" t="0" r="-83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21370" y="991777"/>
            <a:ext cx="337930" cy="337930"/>
          </a:xfrm>
          <a:custGeom>
            <a:avLst/>
            <a:gdLst/>
            <a:ahLst/>
            <a:cxnLst/>
            <a:rect r="r" b="b" t="t" l="l"/>
            <a:pathLst>
              <a:path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2932469">
            <a:off x="-2458732" y="-2682360"/>
            <a:ext cx="14388035" cy="16061643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5795620" y="2682274"/>
            <a:ext cx="11711588" cy="6576026"/>
          </a:xfrm>
          <a:custGeom>
            <a:avLst/>
            <a:gdLst/>
            <a:ahLst/>
            <a:cxnLst/>
            <a:rect r="r" b="b" t="t" l="l"/>
            <a:pathLst>
              <a:path h="6576026" w="11711588">
                <a:moveTo>
                  <a:pt x="0" y="0"/>
                </a:moveTo>
                <a:lnTo>
                  <a:pt x="11711588" y="0"/>
                </a:lnTo>
                <a:lnTo>
                  <a:pt x="11711588" y="6576026"/>
                </a:lnTo>
                <a:lnTo>
                  <a:pt x="0" y="657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83" r="0" b="-583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329707"/>
            <a:ext cx="7413171" cy="2960606"/>
            <a:chOff x="0" y="0"/>
            <a:chExt cx="9884229" cy="39474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0"/>
              <a:ext cx="9884229" cy="300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Overall System Flow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02104"/>
              <a:ext cx="988422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4426" y="329660"/>
            <a:ext cx="93981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Transmitter Flowgraph (PU_tx.grc)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6499" y="3129348"/>
            <a:ext cx="11850416" cy="700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Blocks Used: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File Source → Constellation Modulator → QT Frequency Sink + PlutoSDR Sink</a:t>
            </a:r>
          </a:p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Parameters: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 Frequency: 2.4 GHz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Sample Rate: 1.024 MHz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Buffer Size: 32.768k</a:t>
            </a:r>
          </a:p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Function: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Generates and transmits I/Q data using chosen modulation.</a:t>
            </a:r>
          </a:p>
          <a:p>
            <a:pPr algn="l">
              <a:lnSpc>
                <a:spcPts val="5017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5448" y="2386099"/>
            <a:ext cx="15813852" cy="7253350"/>
          </a:xfrm>
          <a:custGeom>
            <a:avLst/>
            <a:gdLst/>
            <a:ahLst/>
            <a:cxnLst/>
            <a:rect r="r" b="b" t="t" l="l"/>
            <a:pathLst>
              <a:path h="7253350" w="15813852">
                <a:moveTo>
                  <a:pt x="0" y="0"/>
                </a:moveTo>
                <a:lnTo>
                  <a:pt x="15813852" y="0"/>
                </a:lnTo>
                <a:lnTo>
                  <a:pt x="15813852" y="7253350"/>
                </a:lnTo>
                <a:lnTo>
                  <a:pt x="0" y="7253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0" t="0" r="-272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4901" y="329660"/>
            <a:ext cx="93981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Transmitter Flowgraph (PU_tx.grc)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4901" y="329660"/>
            <a:ext cx="93981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Receiver Flowgraph (SU_rx.grc)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6499" y="3129348"/>
            <a:ext cx="11850416" cy="700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Blocks Used: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PlutoSDR Source → QT GUI Frequency Sink → File Sink → Custom PSD Logger</a:t>
            </a:r>
          </a:p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Parameters: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 Frequency: 2.4 GHz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Sample Rate: 1.024 MHz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RF Bandwidth: 20 MHz</a:t>
            </a:r>
          </a:p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Function: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Captures PU signals and logs Power Spectral Density.</a:t>
            </a:r>
          </a:p>
          <a:p>
            <a:pPr algn="l">
              <a:lnSpc>
                <a:spcPts val="5017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4901" y="329660"/>
            <a:ext cx="93981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Receiver Flowgraph (SU_rx.grc)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4638" y="3053724"/>
            <a:ext cx="11850416" cy="763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 Python Block (psd_logger)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Reads complex input samples from SDR source.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Computes Power Spectral Density (PSD) in dB.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Calculates SNR using mean PSD and 10th percentile noise floor.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Flags PU presence (if SNR &gt; 5 dB).</a:t>
            </a:r>
          </a:p>
          <a:p>
            <a:pPr algn="l">
              <a:lnSpc>
                <a:spcPts val="5017"/>
              </a:lnSpc>
            </a:pPr>
          </a:p>
          <a:p>
            <a:pPr algn="l">
              <a:lnSpc>
                <a:spcPts val="5017"/>
              </a:lnSpc>
            </a:pPr>
            <a:r>
              <a:rPr lang="en-US" sz="3583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Stores results in: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CSV: human-readable log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PTH: tensor dataset</a:t>
            </a:r>
          </a:p>
          <a:p>
            <a:pPr algn="l" marL="773772" indent="-386886" lvl="1">
              <a:lnSpc>
                <a:spcPts val="5017"/>
              </a:lnSpc>
              <a:buFont typeface="Arial"/>
              <a:buChar char="•"/>
            </a:pPr>
            <a:r>
              <a:rPr lang="en-US" sz="35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Binned PTH: organized by SNR range (for ML)</a:t>
            </a:r>
          </a:p>
          <a:p>
            <a:pPr algn="l">
              <a:lnSpc>
                <a:spcPts val="5017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968" y="1920531"/>
            <a:ext cx="15769332" cy="8366469"/>
          </a:xfrm>
          <a:custGeom>
            <a:avLst/>
            <a:gdLst/>
            <a:ahLst/>
            <a:cxnLst/>
            <a:rect r="r" b="b" t="t" l="l"/>
            <a:pathLst>
              <a:path h="8366469" w="15769332">
                <a:moveTo>
                  <a:pt x="0" y="0"/>
                </a:moveTo>
                <a:lnTo>
                  <a:pt x="15769332" y="0"/>
                </a:lnTo>
                <a:lnTo>
                  <a:pt x="15769332" y="8366469"/>
                </a:lnTo>
                <a:lnTo>
                  <a:pt x="0" y="8366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7" t="0" r="-1077" b="-1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4901" y="329660"/>
            <a:ext cx="93981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Receiver Flowgraph (SU_rx.grc)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521633" y="3316901"/>
            <a:ext cx="8622367" cy="5393782"/>
            <a:chOff x="0" y="0"/>
            <a:chExt cx="11496490" cy="71917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71450"/>
              <a:ext cx="11496490" cy="878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What is Modulation?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59938"/>
              <a:ext cx="11496490" cy="6131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Modulation is the process of varying one or more properties of a carrier signal (like amplitude, frequency, or phase) in accordance with a baseband digital signal (data) that you want to transmit.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 simple terms: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Modulation converts digital data (0s and 1s) into an analog waveform that can be transmitted efficiently over a wireless channel.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6691" y="2821084"/>
            <a:ext cx="8811309" cy="7222582"/>
            <a:chOff x="0" y="0"/>
            <a:chExt cx="11748412" cy="963011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71450"/>
              <a:ext cx="11748412" cy="878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Why is Modulation Needed?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59938"/>
              <a:ext cx="11748412" cy="8570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Without modulation: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Digital signals can’t travel long distances efficiently.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Bandwidth and interference would increase.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Multiple users can’t share the same frequency spectrum.</a:t>
              </a: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He</a:t>
              </a:r>
              <a:r>
                <a:rPr lang="en-US" sz="2600" b="true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nce, modulation helps to: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Transmit data over long distances (radio frequency range).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Allow multiple users to coexist (via different frequency bands).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Improve resistance to noise and interference.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Optimize bandwidth usage depending on channel capacity.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77623" y="838200"/>
            <a:ext cx="14427636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Modulation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3463659" y="-599139"/>
            <a:ext cx="5865675" cy="5231058"/>
          </a:xfrm>
          <a:prstGeom prst="rect">
            <a:avLst/>
          </a:prstGeom>
        </p:spPr>
      </p:pic>
      <p:graphicFrame>
        <p:nvGraphicFramePr>
          <p:cNvPr name="Object 4" id="4"/>
          <p:cNvGraphicFramePr/>
          <p:nvPr/>
        </p:nvGraphicFramePr>
        <p:xfrm>
          <a:off x="8627020" y="2790681"/>
          <a:ext cx="14144625" cy="4714875"/>
        </p:xfrm>
        <a:graphic>
          <a:graphicData uri="http://schemas.openxmlformats.org/presentationml/2006/ole">
            <p:oleObj imgW="16967200" imgH="754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14221" y="3242924"/>
            <a:ext cx="7248564" cy="60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Modulation Description Data Rate Robustness</a:t>
            </a:r>
          </a:p>
          <a:p>
            <a:pPr algn="l" marL="604341" indent="-302171" lvl="1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BPSK 1-bit per symbol Low High</a:t>
            </a:r>
          </a:p>
          <a:p>
            <a:pPr algn="l" marL="604341" indent="-302171" lvl="1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QPSK 2-bit phase shift Medium Medium</a:t>
            </a:r>
          </a:p>
          <a:p>
            <a:pPr algn="l" marL="604341" indent="-302171" lvl="1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8PSK </a:t>
            </a: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Frequency-coded Medium High</a:t>
            </a:r>
          </a:p>
          <a:p>
            <a:pPr algn="l" marL="604341" indent="-302171" lvl="1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16-QAM Amplitude + Phase High Lower</a:t>
            </a:r>
          </a:p>
          <a:p>
            <a:pPr algn="l">
              <a:lnSpc>
                <a:spcPts val="3918"/>
              </a:lnSpc>
            </a:pPr>
          </a:p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Observation:</a:t>
            </a:r>
          </a:p>
          <a:p>
            <a:pPr algn="l" marL="604341" indent="-302171" lvl="1">
              <a:lnSpc>
                <a:spcPts val="3918"/>
              </a:lnSpc>
              <a:buFont typeface="Arial"/>
              <a:buChar char="•"/>
            </a:pPr>
            <a:r>
              <a:rPr lang="en-US" sz="27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Higher-order modulations (QAM) give more throughput but are more noise-sensitive.</a:t>
            </a:r>
          </a:p>
          <a:p>
            <a:pPr algn="l" marL="0" indent="0" lvl="0">
              <a:lnSpc>
                <a:spcPts val="391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24855" y="133868"/>
            <a:ext cx="719170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Modulation Techniques Used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71725" y="619565"/>
            <a:ext cx="8461437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Impacts Of Modulation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4512" y="3167788"/>
            <a:ext cx="16853488" cy="71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When you transmitted using GNU Radio:</a:t>
            </a:r>
          </a:p>
          <a:p>
            <a:pPr algn="l" marL="613385" indent="-306692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PU (Primary User) modulated binary files using BPSK, QPSK, FSK, and 16-QAM.</a:t>
            </a:r>
          </a:p>
          <a:p>
            <a:pPr algn="l" marL="613385" indent="-306692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SU (Secondary User) received the waveforms and calculated:</a:t>
            </a:r>
          </a:p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          </a:t>
            </a: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PSD → how energy is distributed across frequency</a:t>
            </a:r>
          </a:p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            </a:t>
            </a: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SNR → how clear the signal is over background noise</a:t>
            </a:r>
          </a:p>
          <a:p>
            <a:pPr algn="l">
              <a:lnSpc>
                <a:spcPts val="3977"/>
              </a:lnSpc>
            </a:pPr>
          </a:p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You then used this data to log and analyze modulation performance under different noise and distance conditions.</a:t>
            </a:r>
          </a:p>
          <a:p>
            <a:pPr algn="l">
              <a:lnSpc>
                <a:spcPts val="3977"/>
              </a:lnSpc>
            </a:pPr>
          </a:p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So modulation directly impacted:</a:t>
            </a:r>
          </a:p>
          <a:p>
            <a:pPr algn="l" marL="613385" indent="-306692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shape of the PSD you captured</a:t>
            </a:r>
          </a:p>
          <a:p>
            <a:pPr algn="l" marL="613385" indent="-306692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SNR values stored in your CSV</a:t>
            </a:r>
          </a:p>
          <a:p>
            <a:pPr algn="l" marL="613385" indent="-306692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 PU detection accuracy (higher-order modulations harder to detect at low SNR)</a:t>
            </a:r>
          </a:p>
          <a:p>
            <a:pPr algn="l" marL="0" indent="0" lvl="0">
              <a:lnSpc>
                <a:spcPts val="3977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628500" y="3345870"/>
            <a:ext cx="12349526" cy="540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CSV Columns: Timestamp | Mean_PSD_dB | SNR_dB | PU_Present</a:t>
            </a:r>
          </a:p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PTH (Torch file) contains:</a:t>
            </a:r>
          </a:p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PSD arrays</a:t>
            </a:r>
          </a:p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Corresponding SNR values</a:t>
            </a:r>
          </a:p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PU activity labels</a:t>
            </a:r>
          </a:p>
          <a:p>
            <a:pPr algn="l" marL="817268" indent="-408634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Used for wireless signal classification &amp; IoT traffic pattern analysis.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42768" y="2221660"/>
            <a:ext cx="14002464" cy="7648846"/>
          </a:xfrm>
          <a:custGeom>
            <a:avLst/>
            <a:gdLst/>
            <a:ahLst/>
            <a:cxnLst/>
            <a:rect r="r" b="b" t="t" l="l"/>
            <a:pathLst>
              <a:path h="7648846" w="14002464">
                <a:moveTo>
                  <a:pt x="0" y="0"/>
                </a:moveTo>
                <a:lnTo>
                  <a:pt x="14002464" y="0"/>
                </a:lnTo>
                <a:lnTo>
                  <a:pt x="14002464" y="7648846"/>
                </a:lnTo>
                <a:lnTo>
                  <a:pt x="0" y="7648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952500" cap="rnd">
            <a:solidFill>
              <a:srgbClr val="000000">
                <a:alpha val="23922"/>
              </a:srgbClr>
            </a:solidFill>
            <a:prstDash val="dash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668767"/>
            <a:ext cx="162306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Dataset &amp; Logging Outputs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699" y="3946769"/>
            <a:ext cx="9906795" cy="2813703"/>
            <a:chOff x="0" y="0"/>
            <a:chExt cx="13209059" cy="37516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0"/>
              <a:ext cx="13209059" cy="300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Simulating Single PU-SU to Multiple PUs and SUs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062206"/>
              <a:ext cx="13209059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09934" y="2452071"/>
            <a:ext cx="6907145" cy="868440"/>
            <a:chOff x="0" y="0"/>
            <a:chExt cx="9209527" cy="1157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Input Data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09934" y="3677837"/>
            <a:ext cx="6907145" cy="868440"/>
            <a:chOff x="0" y="0"/>
            <a:chExt cx="9209527" cy="11579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System Configuration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09934" y="4908227"/>
            <a:ext cx="6907145" cy="2222824"/>
            <a:chOff x="0" y="0"/>
            <a:chExt cx="9209527" cy="296376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634311" y="-111752"/>
              <a:ext cx="7575216" cy="3075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Concepts Used: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Channel Gain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Shadowing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Frequency Drift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AWGN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09934" y="7493000"/>
            <a:ext cx="6907145" cy="868440"/>
            <a:chOff x="0" y="0"/>
            <a:chExt cx="9209527" cy="11579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634311" y="147159"/>
              <a:ext cx="7575216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Algorithm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351305" y="370892"/>
              <a:ext cx="421625" cy="34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69" y="2999575"/>
            <a:ext cx="8127324" cy="593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 Data (Real PSD Library):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PSDs collected from real SDR hardware (Pluto/RTL-SDR)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Stored inside .pth files per modulation: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BPSK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QPSK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8PSK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16QAM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Each PSD: 192 frequency bins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May include recorded SNR values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Loaded into PSD_LIB for sampling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144000" y="2999575"/>
            <a:ext cx="8966522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Configuration: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PUs = 10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SUs = 10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Channels = 20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Freq bins per channel = 64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One PSD (192 bins) split into: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0–63 → Left leakage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64–127 → Main signal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128–191 → Right leakage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Class count = 210=10242^{10} = 1024210=1024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3967" y="420764"/>
            <a:ext cx="13120067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Simulating Single PU-SU to Multiple PUs and SUs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3802772" y="3324570"/>
            <a:ext cx="9820909" cy="5659299"/>
          </a:xfrm>
          <a:custGeom>
            <a:avLst/>
            <a:gdLst/>
            <a:ahLst/>
            <a:cxnLst/>
            <a:rect r="r" b="b" t="t" l="l"/>
            <a:pathLst>
              <a:path h="5659299" w="9820909">
                <a:moveTo>
                  <a:pt x="0" y="0"/>
                </a:moveTo>
                <a:lnTo>
                  <a:pt x="9820908" y="0"/>
                </a:lnTo>
                <a:lnTo>
                  <a:pt x="9820908" y="5659299"/>
                </a:lnTo>
                <a:lnTo>
                  <a:pt x="0" y="5659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83967" y="420764"/>
            <a:ext cx="13120067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Simulating Single PU-SU to Multiple PUs and SUs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483243" y="8533678"/>
            <a:ext cx="10522933" cy="2420275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465174" y="3107914"/>
            <a:ext cx="8678826" cy="6943061"/>
          </a:xfrm>
          <a:custGeom>
            <a:avLst/>
            <a:gdLst/>
            <a:ahLst/>
            <a:cxnLst/>
            <a:rect r="r" b="b" t="t" l="l"/>
            <a:pathLst>
              <a:path h="6943061" w="8678826">
                <a:moveTo>
                  <a:pt x="0" y="0"/>
                </a:moveTo>
                <a:lnTo>
                  <a:pt x="8678826" y="0"/>
                </a:lnTo>
                <a:lnTo>
                  <a:pt x="8678826" y="6943061"/>
                </a:lnTo>
                <a:lnTo>
                  <a:pt x="0" y="6943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226" t="0" r="-2322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9483" y="3538259"/>
            <a:ext cx="8470207" cy="620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Why do we use frequency drift?</a:t>
            </a:r>
          </a:p>
          <a:p>
            <a:pPr algn="ctr">
              <a:lnSpc>
                <a:spcPts val="3476"/>
              </a:lnSpc>
              <a:spcBef>
                <a:spcPct val="0"/>
              </a:spcBef>
            </a:pPr>
          </a:p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Real radio signals do NOT stay perfectly centered at their exact carrier frequency because of: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Local oscillator (LO) mismatch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PLL instability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Doppler shift (motion)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Temperature changes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Imperfect filters</a:t>
            </a:r>
          </a:p>
          <a:p>
            <a:pPr algn="l" marL="536151" indent="-268076" lvl="1">
              <a:lnSpc>
                <a:spcPts val="3476"/>
              </a:lnSpc>
              <a:buFont typeface="Arial"/>
              <a:buChar char="•"/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Hardware imperfections</a:t>
            </a:r>
          </a:p>
          <a:p>
            <a:pPr algn="l">
              <a:lnSpc>
                <a:spcPts val="3476"/>
              </a:lnSpc>
            </a:pPr>
          </a:p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Therefore, the received PSD will be slightly shifted left or right.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83967" y="560329"/>
            <a:ext cx="1312006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Important Terms(Concepts Used)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6099" y="1895934"/>
            <a:ext cx="3735735" cy="5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4" indent="-323847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b="true" sz="2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2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Frequency Drift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64761" y="3986470"/>
            <a:ext cx="6904307" cy="379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sz="2662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 simulate this real behavior, we apply a fractional shift to the PSD bins.</a:t>
            </a:r>
          </a:p>
          <a:p>
            <a:pPr algn="ctr">
              <a:lnSpc>
                <a:spcPts val="3727"/>
              </a:lnSpc>
              <a:spcBef>
                <a:spcPct val="0"/>
              </a:spcBef>
            </a:pPr>
          </a:p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Formula:</a:t>
            </a:r>
          </a:p>
          <a:p>
            <a:pPr algn="l" marL="574784" indent="-287392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If PSD = x[n]x[n]x[n] of length N and </a:t>
            </a:r>
          </a:p>
          <a:p>
            <a:pPr algn="l" marL="574784" indent="-287392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drift = Δf (fractional shift in bins):</a:t>
            </a:r>
          </a:p>
          <a:p>
            <a:pPr algn="l" marL="574784" indent="-287392" lvl="1">
              <a:lnSpc>
                <a:spcPts val="3727"/>
              </a:lnSpc>
              <a:buFont typeface="Arial"/>
              <a:buChar char="•"/>
            </a:pPr>
            <a:r>
              <a:rPr lang="en-US" sz="2662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xshifted[n]=x[n−Δf]x_{\text{shifted}}[n] = x[n - \Delta f]xshifted​[n]=x[n−Δf]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144000" y="3450249"/>
            <a:ext cx="8655226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 formula: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base_gain=(β⋅(d⋅A)α)−1\text{base\_gain} = \left( \beta \cdot (d \cdot A)^{\alpha} \right)^{-1}base_gain=(β⋅(d⋅A)α)−1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Parameter: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α (alpha): Rate at which signal decays with distance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β (beta): Constant scaling factor based on environment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DIST_AMP: AAmplify the distance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83967" y="560329"/>
            <a:ext cx="1312006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Important Terms(Concepts Used)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062420"/>
            <a:ext cx="6794061" cy="5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4" indent="-323847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b="true" sz="2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Channel Gain(Path-loss Model):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1681" y="3497874"/>
            <a:ext cx="7033866" cy="415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Why do we use channel gain?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Signal strength reduces when traveling from PU → SU due to: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Distance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Obstructions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Atmospheric absorption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Multipath fading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 model this attenuation, we use a log-distance path-loss model.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609600" y="3275890"/>
            <a:ext cx="8028161" cy="662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Why do we use AWGN?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Every radio receiver experiences thermal noise: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ADC noise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RF front-end noise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Mixer noise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Amplifier noise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Environmental EM noise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To simulate this, AWGN is added.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But the amount of noise must match the desired SNR.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Pnoise​=Psignal/SNRlinear​​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83967" y="560329"/>
            <a:ext cx="1312006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5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Important Terms(Concepts Used)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062420"/>
            <a:ext cx="3011546" cy="5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4" indent="-323847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b="true" sz="2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Shadowing: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906" y="3346173"/>
            <a:ext cx="7870630" cy="574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Why do we use shadowing?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Even at the same distance, signal power fluctuates due to: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Buildings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Trees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Cars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Humans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Temporary blockages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This causes slow variations around the average path-loss.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This is called log-normal shadow fading.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50089" y="2062420"/>
            <a:ext cx="8031332" cy="5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4" indent="-323847" lvl="1">
              <a:lnSpc>
                <a:spcPts val="4199"/>
              </a:lnSpc>
              <a:spcBef>
                <a:spcPct val="0"/>
              </a:spcBef>
              <a:buAutoNum type="arabicPeriod" startAt="1"/>
            </a:pPr>
            <a:r>
              <a:rPr lang="en-US" b="true" sz="2999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Additive White Gaussian Noise (AWGN):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758134" y="133489"/>
            <a:ext cx="7509510" cy="10020022"/>
          </a:xfrm>
          <a:custGeom>
            <a:avLst/>
            <a:gdLst/>
            <a:ahLst/>
            <a:cxnLst/>
            <a:rect r="r" b="b" t="t" l="l"/>
            <a:pathLst>
              <a:path h="10020022" w="7509510">
                <a:moveTo>
                  <a:pt x="0" y="0"/>
                </a:moveTo>
                <a:lnTo>
                  <a:pt x="7509510" y="0"/>
                </a:lnTo>
                <a:lnTo>
                  <a:pt x="7509510" y="10020022"/>
                </a:lnTo>
                <a:lnTo>
                  <a:pt x="0" y="10020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32" r="0" b="-133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3586" y="4099835"/>
            <a:ext cx="53721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Algorithm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3448" y="2121589"/>
            <a:ext cx="1924218" cy="1798269"/>
          </a:xfrm>
          <a:custGeom>
            <a:avLst/>
            <a:gdLst/>
            <a:ahLst/>
            <a:cxnLst/>
            <a:rect r="r" b="b" t="t" l="l"/>
            <a:pathLst>
              <a:path h="1798269" w="1924218">
                <a:moveTo>
                  <a:pt x="0" y="0"/>
                </a:moveTo>
                <a:lnTo>
                  <a:pt x="1924217" y="0"/>
                </a:lnTo>
                <a:lnTo>
                  <a:pt x="1924217" y="1798269"/>
                </a:lnTo>
                <a:lnTo>
                  <a:pt x="0" y="1798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74883" y="2690050"/>
            <a:ext cx="661347" cy="661347"/>
          </a:xfrm>
          <a:custGeom>
            <a:avLst/>
            <a:gdLst/>
            <a:ahLst/>
            <a:cxnLst/>
            <a:rect r="r" b="b" t="t" l="l"/>
            <a:pathLst>
              <a:path h="661347" w="661347">
                <a:moveTo>
                  <a:pt x="0" y="0"/>
                </a:moveTo>
                <a:lnTo>
                  <a:pt x="661347" y="0"/>
                </a:lnTo>
                <a:lnTo>
                  <a:pt x="661347" y="661347"/>
                </a:lnTo>
                <a:lnTo>
                  <a:pt x="0" y="661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31445" y="2301586"/>
            <a:ext cx="550134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1445" y="4609333"/>
            <a:ext cx="8575931" cy="24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8846" indent="-289423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Implemented PU–SU communication using SDRs.</a:t>
            </a:r>
          </a:p>
          <a:p>
            <a:pPr algn="l" marL="578846" indent="-289423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Logged spectral features and generated datasets.</a:t>
            </a:r>
          </a:p>
          <a:p>
            <a:pPr algn="l" marL="578846" indent="-289423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Built foundation for AI-based modulation detection.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9549" y="2760352"/>
            <a:ext cx="4467094" cy="1181933"/>
            <a:chOff x="0" y="0"/>
            <a:chExt cx="5956125" cy="1575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17048" y="147159"/>
              <a:ext cx="4339077" cy="1428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Radio GNU Download Link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49549" y="4552534"/>
            <a:ext cx="4467094" cy="868440"/>
            <a:chOff x="0" y="0"/>
            <a:chExt cx="5956125" cy="115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17048" y="147159"/>
              <a:ext cx="4339077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Results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49549" y="6344715"/>
            <a:ext cx="4467094" cy="868440"/>
            <a:chOff x="0" y="0"/>
            <a:chExt cx="5956125" cy="11579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617048" y="147159"/>
              <a:ext cx="4339077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PU_tx.grc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01040" y="2760352"/>
            <a:ext cx="4467094" cy="1181933"/>
            <a:chOff x="0" y="0"/>
            <a:chExt cx="5956125" cy="15759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17048" y="147159"/>
              <a:ext cx="4339077" cy="1428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Pluto SDR Driver Link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01040" y="4552534"/>
            <a:ext cx="4467094" cy="868440"/>
            <a:chOff x="0" y="0"/>
            <a:chExt cx="5956125" cy="1157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17048" y="147159"/>
              <a:ext cx="4339077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SU_rx.grc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01040" y="6344715"/>
            <a:ext cx="4467094" cy="1181933"/>
            <a:chOff x="0" y="0"/>
            <a:chExt cx="5956125" cy="157591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617048" y="147159"/>
              <a:ext cx="4339077" cy="1428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PSD logger Block Code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3575086"/>
            <a:ext cx="5243646" cy="3136829"/>
            <a:chOff x="0" y="0"/>
            <a:chExt cx="6991528" cy="4182439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90500"/>
              <a:ext cx="6991528" cy="3009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Resource 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Page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631471"/>
              <a:ext cx="6991528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29" id="29">
            <a:hlinkClick r:id="rId6" tooltip="https://github.com/radioconda/radioconda-installer"/>
          </p:cNvPr>
          <p:cNvSpPr/>
          <p:nvPr/>
        </p:nvSpPr>
        <p:spPr>
          <a:xfrm flipH="false" flipV="false" rot="2700000">
            <a:off x="11017534" y="3519639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1" y="0"/>
                </a:lnTo>
                <a:lnTo>
                  <a:pt x="350131" y="350131"/>
                </a:lnTo>
                <a:lnTo>
                  <a:pt x="0" y="35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>
            <a:hlinkClick r:id="rId7" tooltip="https://github.com/analogdevicesinc/plutosdr-m2k-drivers-win/releases"/>
          </p:cNvPr>
          <p:cNvSpPr/>
          <p:nvPr/>
        </p:nvSpPr>
        <p:spPr>
          <a:xfrm flipH="false" flipV="false" rot="2700000">
            <a:off x="14259522" y="3519639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1" y="0"/>
                </a:lnTo>
                <a:lnTo>
                  <a:pt x="350131" y="350131"/>
                </a:lnTo>
                <a:lnTo>
                  <a:pt x="0" y="35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>
            <a:hlinkClick r:id="rId8" tooltip="https://drive.google.com/drive/folders/1e8texmB38lLSP05PVPen9b70UTNvPXuH?usp=drive_link"/>
          </p:cNvPr>
          <p:cNvSpPr/>
          <p:nvPr/>
        </p:nvSpPr>
        <p:spPr>
          <a:xfrm flipH="false" flipV="false" rot="2700000">
            <a:off x="9930551" y="4811688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2" y="0"/>
                </a:lnTo>
                <a:lnTo>
                  <a:pt x="350132" y="350131"/>
                </a:lnTo>
                <a:lnTo>
                  <a:pt x="0" y="35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>
            <a:hlinkClick r:id="rId9" tooltip="https://drive.google.com/file/d/1Isaeh9cJh6UDmF4l40ifs4dvmJa1hD4S/view?usp=drive_link"/>
          </p:cNvPr>
          <p:cNvSpPr/>
          <p:nvPr/>
        </p:nvSpPr>
        <p:spPr>
          <a:xfrm flipH="false" flipV="false" rot="2700000">
            <a:off x="15422672" y="4788594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2" y="0"/>
                </a:lnTo>
                <a:lnTo>
                  <a:pt x="350132" y="350132"/>
                </a:lnTo>
                <a:lnTo>
                  <a:pt x="0" y="35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>
            <a:hlinkClick r:id="rId10" tooltip="https://drive.google.com/file/d/1ITHa5mEXnBOhbaIxwwXmWSHLIV11HDNv/view?usp=drive_link"/>
          </p:cNvPr>
          <p:cNvSpPr/>
          <p:nvPr/>
        </p:nvSpPr>
        <p:spPr>
          <a:xfrm flipH="false" flipV="false" rot="2700000">
            <a:off x="10425712" y="6603869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2" y="0"/>
                </a:lnTo>
                <a:lnTo>
                  <a:pt x="350132" y="350132"/>
                </a:lnTo>
                <a:lnTo>
                  <a:pt x="0" y="35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>
            <a:hlinkClick r:id="rId11" tooltip="https://drive.google.com/file/d/1UoNh0XQouuUpJ1HSlTHFbPmDtdhodbHd/view?usp=drive_link"/>
          </p:cNvPr>
          <p:cNvSpPr/>
          <p:nvPr/>
        </p:nvSpPr>
        <p:spPr>
          <a:xfrm flipH="false" flipV="false" rot="2700000">
            <a:off x="14621738" y="7104002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1" y="0"/>
                </a:lnTo>
                <a:lnTo>
                  <a:pt x="350131" y="350131"/>
                </a:lnTo>
                <a:lnTo>
                  <a:pt x="0" y="35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149549" y="8137080"/>
            <a:ext cx="4467094" cy="868440"/>
            <a:chOff x="0" y="0"/>
            <a:chExt cx="5956125" cy="115792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1617048" y="147159"/>
              <a:ext cx="4339077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GitHub Repo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4235" cy="1157920"/>
            </a:xfrm>
            <a:custGeom>
              <a:avLst/>
              <a:gdLst/>
              <a:ahLst/>
              <a:cxnLst/>
              <a:rect r="r" b="b" t="t" l="l"/>
              <a:pathLst>
                <a:path h="1157920" w="1124235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39608" y="147159"/>
              <a:ext cx="645020" cy="73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</a:t>
              </a:r>
            </a:p>
          </p:txBody>
        </p:sp>
      </p:grpSp>
      <p:sp>
        <p:nvSpPr>
          <p:cNvPr name="Freeform 39" id="39">
            <a:hlinkClick r:id="rId12" tooltip="https://github.com/Manish-Anwla/Generate-Datasets-using-GNU-Radio-and-SDR"/>
          </p:cNvPr>
          <p:cNvSpPr/>
          <p:nvPr/>
        </p:nvSpPr>
        <p:spPr>
          <a:xfrm flipH="false" flipV="false" rot="2700000">
            <a:off x="10920873" y="8396234"/>
            <a:ext cx="350132" cy="350132"/>
          </a:xfrm>
          <a:custGeom>
            <a:avLst/>
            <a:gdLst/>
            <a:ahLst/>
            <a:cxnLst/>
            <a:rect r="r" b="b" t="t" l="l"/>
            <a:pathLst>
              <a:path h="350132" w="350132">
                <a:moveTo>
                  <a:pt x="0" y="0"/>
                </a:moveTo>
                <a:lnTo>
                  <a:pt x="350131" y="0"/>
                </a:lnTo>
                <a:lnTo>
                  <a:pt x="350131" y="350132"/>
                </a:lnTo>
                <a:lnTo>
                  <a:pt x="0" y="35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1287299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9487"/>
              <a:ext cx="1128729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DAG56mfMRg4</dc:identifier>
  <dcterms:modified xsi:type="dcterms:W3CDTF">2011-08-01T06:04:30Z</dcterms:modified>
  <cp:revision>1</cp:revision>
  <dc:title>BTP-1 Final</dc:title>
</cp:coreProperties>
</file>